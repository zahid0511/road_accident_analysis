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5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118145"/>
            <a:ext cx="5350668" cy="1731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1F3A5F"/>
                </a:solidFill>
                <a:latin typeface="Inter"/>
              </a:rPr>
              <a:t>Road Accident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99" y="3017341"/>
            <a:ext cx="5559669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Interactive Business Intelligence Dashboard using Power BI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26991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4026991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4026991"/>
            <a:ext cx="25717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50" y="5604569"/>
            <a:ext cx="4924425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i="0" u="none">
                <a:solidFill>
                  <a:srgbClr val="1F3A5F"/>
                </a:solidFill>
                <a:latin typeface="Inter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5867400"/>
            <a:ext cx="492442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IN" sz="1600" dirty="0" err="1">
                <a:solidFill>
                  <a:srgbClr val="475569"/>
                </a:solidFill>
                <a:latin typeface="Inter"/>
              </a:rPr>
              <a:t>Md</a:t>
            </a:r>
            <a:r>
              <a:rPr lang="en-IN" sz="16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600" dirty="0" err="1">
                <a:solidFill>
                  <a:srgbClr val="475569"/>
                </a:solidFill>
                <a:latin typeface="Inter"/>
              </a:rPr>
              <a:t>Zahid</a:t>
            </a:r>
            <a:endParaRPr lang="en-IN" sz="1600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en-IN" sz="1600" dirty="0" err="1">
                <a:solidFill>
                  <a:srgbClr val="475569"/>
                </a:solidFill>
                <a:latin typeface="Inter"/>
              </a:rPr>
              <a:t>Ramtanay</a:t>
            </a:r>
            <a:r>
              <a:rPr lang="en-IN" sz="16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N" sz="1600" dirty="0" err="1">
                <a:solidFill>
                  <a:srgbClr val="475569"/>
                </a:solidFill>
                <a:latin typeface="Inter"/>
              </a:rPr>
              <a:t>Chakraborty</a:t>
            </a:r>
            <a:endParaRPr lang="en-IN" sz="1600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en-IN" sz="1600" b="0" i="0" u="none" dirty="0">
                <a:solidFill>
                  <a:srgbClr val="475569"/>
                </a:solidFill>
                <a:latin typeface="Inter"/>
              </a:rPr>
              <a:t>Prince Kumar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892" y="0"/>
            <a:ext cx="5668108" cy="6858000"/>
          </a:xfrm>
          <a:prstGeom prst="rect">
            <a:avLst/>
          </a:prstGeom>
        </p:spPr>
      </p:pic>
      <p:sp>
        <p:nvSpPr>
          <p:cNvPr id="13" name="AutoShape 2" descr="blob:https://web.whatsapp.com/6df38e0b-8c6c-40f6-8853-a067da2f7d2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99357"/>
            <a:ext cx="5286375" cy="38497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99357"/>
            <a:ext cx="5286375" cy="3849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427982"/>
            <a:ext cx="357044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847082"/>
            <a:ext cx="4505325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Road traffic collisions pose a significant socio-economic challenge. This initiative aims to thoroughly analyze historical collision data to identify high-risk zones, peak incident times, and underlying contributing factors.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361408"/>
            <a:ext cx="450532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Expected Impact: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resulting intelligence empowers stakeholders to deploy targeted safety interventions, optimize traffic law enforcement, and ultimately reduce overall casualty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427982"/>
            <a:ext cx="27203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Dataset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847082"/>
            <a:ext cx="41624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Source: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UK Road Safety Accident Dataset (Kaggle)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264247"/>
            <a:ext cx="981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Tools Used: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3283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3633787"/>
            <a:ext cx="26765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Microsoft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0712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5150" y="3908077"/>
            <a:ext cx="26765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Power Query (ETL)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8141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4182367"/>
            <a:ext cx="26765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DAX (Data Analysis Expressions)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5570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4456658"/>
            <a:ext cx="26765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Dimensional Data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F3A5F"/>
                </a:solidFill>
                <a:latin typeface="Inter"/>
              </a:rPr>
              <a:t>Project Overview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57675"/>
            <a:ext cx="2541240" cy="17732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1817637"/>
            <a:ext cx="2541240" cy="1773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257675"/>
            <a:ext cx="2541240" cy="1773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1817637"/>
            <a:ext cx="2541240" cy="17732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905250"/>
            <a:ext cx="11049000" cy="381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645" y="4486275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995" y="4895850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F3A5F"/>
                </a:solidFill>
                <a:latin typeface="Inter SemiBold"/>
              </a:rPr>
              <a:t>1. Power Query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5191125"/>
            <a:ext cx="214119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Extracting raw historical datasets and loading them into the transformation engine.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5565" y="2046237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53915" y="2455812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F3A5F"/>
                </a:solidFill>
                <a:latin typeface="Inter SemiBold"/>
              </a:rPr>
              <a:t>2. Data Cleansing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444" y="2751087"/>
            <a:ext cx="214119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Validating data types, checking for duplicates, handling missing values, and text standardization.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1485" y="4486275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9835" y="4895850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F3A5F"/>
                </a:solidFill>
                <a:latin typeface="Inter SemiBold"/>
              </a:rPr>
              <a:t>3. Star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64" y="5191125"/>
            <a:ext cx="214119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Creating a dedicated Date table and establishing robust 1-to-many relationship modeling.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6455" y="2046237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5755" y="2455812"/>
            <a:ext cx="22482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F3A5F"/>
                </a:solidFill>
                <a:latin typeface="Inter SemiBold"/>
              </a:rPr>
              <a:t>4. DAX &amp;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9284" y="2751087"/>
            <a:ext cx="214119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Authoring optimized DAX measures and deploying the interactive Power BI dashboard.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2782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63740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9965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35579" y="38100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F3A5F"/>
                </a:solidFill>
                <a:latin typeface="Inter"/>
              </a:rPr>
              <a:t>Data Preparation &amp; Modeling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1458"/>
            <a:ext cx="2547937" cy="26056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87" y="2621458"/>
            <a:ext cx="2547937" cy="26056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21458"/>
            <a:ext cx="2547937" cy="26056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62" y="2621458"/>
            <a:ext cx="2547937" cy="26056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54833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716833"/>
            <a:ext cx="198024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Inter SemiBold"/>
              </a:rPr>
              <a:t>Executive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78783"/>
            <a:ext cx="1957387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High-level KPI Cards, severity distribution, and monthly trend tracking designed for strategic leadership.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462" y="2954833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0462" y="3716833"/>
            <a:ext cx="159019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Inter SemiBold"/>
              </a:rPr>
              <a:t>Detailed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462" y="4078783"/>
            <a:ext cx="1957387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Deep-dive into Time Intelligence, localized road conditions, and granular environmental factors.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54833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4150" y="3716833"/>
            <a:ext cx="161020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Inter SemiBold"/>
              </a:rPr>
              <a:t>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078783"/>
            <a:ext cx="1957387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Dynamic cross-filtering, map visuals, and drill-down capabilities to uncover hidden collision correlations.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837" y="2954833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7837" y="3716833"/>
            <a:ext cx="15401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1E293B"/>
                </a:solidFill>
                <a:latin typeface="Inter SemiBold"/>
              </a:rPr>
              <a:t>Decision Making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7837" y="4078783"/>
            <a:ext cx="1957387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Translating visual intelligence into data-driven recommendations for traffic enforcement optimization.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3088183"/>
            <a:ext cx="3429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3812" y="3088183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3088183"/>
            <a:ext cx="2286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1187" y="3088183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Dashboard Architecture Workflow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41477" y="3596685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Executive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41477" y="1154152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Core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2876" y="408419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1749" y="4083552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Total Incidents: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308K Accidents &amp; 418K Casualties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8131" y="457169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026" y="4563904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Severity Breakdown: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263K Slight, 41K Serious, 4K Fatal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4301" y="4978011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1749" y="4950198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Fatal Accident Rate: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1.28%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1477" y="1626553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7581" y="1587646"/>
            <a:ext cx="509587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Geographic Profiling: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64.46% (198.53K) located in Urban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1477" y="2057413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2836" y="2051193"/>
            <a:ext cx="509587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Temporal Trends: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Monthly casualty spikes and drops mapped.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1477" y="240272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7581" y="2355477"/>
            <a:ext cx="509587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Interactive Elements: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Dynamic slicers for Year, Month, Weather, and Severity.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006" y="59990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Executive Dashboard Overview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0" y="1626553"/>
            <a:ext cx="6172181" cy="40463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34125" y="2265164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1E293B"/>
                </a:solidFill>
                <a:latin typeface="Inter SemiBold"/>
              </a:rPr>
              <a:t>Key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3792884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Infrastructure &amp;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7475" y="2683311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684264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Peak Accident Hour: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17:00 (5 PM) afternoon rush.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7475" y="2957601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958554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Top District: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Birmingham recorded the highest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231892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232844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Speed Limit Impact: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30 mph zones show the most collisions.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4211032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211984"/>
            <a:ext cx="509587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Road Type: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Single carriageways are the most accident-prone.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485322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486275"/>
            <a:ext cx="509587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Surface &amp; Light: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Peak volumes paradoxically occur during Daylight and on Dry surfaces.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5033902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5034855"/>
            <a:ext cx="509587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Day of Week: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Saturdays show the highest total accidents overall.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654" y="563475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Detailed Analysis Dashboard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7" y="1527915"/>
            <a:ext cx="6124575" cy="4529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1713746"/>
            <a:ext cx="5108331" cy="44100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00800" y="1713746"/>
            <a:ext cx="5079756" cy="4415591"/>
          </a:xfrm>
          <a:prstGeom prst="roundRect">
            <a:avLst/>
          </a:prstGeom>
          <a:solidFill>
            <a:schemeClr val="tx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9262"/>
            <a:ext cx="5667375" cy="4410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147887"/>
            <a:ext cx="252031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Inter SemiBold"/>
              </a:rPr>
              <a:t>Analytical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566987"/>
            <a:ext cx="48863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The semantic model utilizes highly optimized DAX expressions to deliver rapid, dynamic insights across a large dataset: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357940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580358"/>
            <a:ext cx="46958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Base Aggregations: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Total Accidents, Total Casualties.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3853695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4648"/>
            <a:ext cx="46958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Severity Filters: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Explicit CALCULATE measures for Fatal, Serious, and Slight categorizations.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4402276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403228"/>
            <a:ext cx="46958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Ratio Engineering: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Fatal Accident Rate (utilizing safe DIVIDE).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950856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951809"/>
            <a:ext cx="46958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Advanced Ranking: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TOPN functions to isolate peak incident hours dynamically.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352" y="2076449"/>
            <a:ext cx="219075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65023" y="2047874"/>
            <a:ext cx="302490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F8FAFC"/>
                </a:solidFill>
                <a:latin typeface="Consolas SemiBold"/>
              </a:rPr>
              <a:t>Semantic Model Core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75" y="65961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DAX Measures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5352" y="2415956"/>
            <a:ext cx="344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Fatal Accident Rate 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=</a:t>
            </a:r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IN" dirty="0">
                <a:solidFill>
                  <a:srgbClr val="00B0F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DIVIDE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([fatal],[Total_Accidents],0)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248" y="3122271"/>
            <a:ext cx="3442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Total_Accidents 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=</a:t>
            </a:r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IN" dirty="0">
                <a:solidFill>
                  <a:srgbClr val="00B0F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CALCULATE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</a:t>
            </a:r>
            <a:r>
              <a:rPr lang="en-IN" dirty="0">
                <a:solidFill>
                  <a:srgbClr val="00B0F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COUNT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(‘Road Accident Data’ [Accident_Index]))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5180" y="4074770"/>
            <a:ext cx="3442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Total_Casualties 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=</a:t>
            </a:r>
            <a:r>
              <a:rPr lang="en-IN" dirty="0">
                <a:solidFill>
                  <a:schemeClr val="accent6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IN" dirty="0">
                <a:solidFill>
                  <a:srgbClr val="00B0F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CALCULATE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</a:t>
            </a:r>
            <a:r>
              <a:rPr lang="en-IN" dirty="0">
                <a:solidFill>
                  <a:srgbClr val="00B0F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SUM</a:t>
            </a:r>
            <a:r>
              <a:rPr lang="en-IN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(‘Road Accident Data’ [Number_of_Casualties]))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1899344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089844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Infrastructure Risk: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Most accidents (over 200K) occurred on single carriageway roads, indicating a critical need for safety interventions on these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50" y="1899344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2750" y="2089844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Urban Concentration: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Urban environments experienced significantly more accidents (64.46%) due to higher baseline traffic density and complex junctions.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31276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50326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Temporal Peaks: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17:00 (5 PM) afternoon rush hour recorded the absolute highest accident frequency across the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1250" y="331276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2750" y="350326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Weekend Surges: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Contrary to commuting assumptions, Saturdays recorded the highest overall daily accident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72618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91668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Speed Zones: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Roads with a 30 mph speed limit recorded the highest incident count, reflecting dense urban driving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472618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2750" y="491668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Weather Paradox: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Dry road conditions and daylight hours still held the highest accident numbers, driven purely by the sheer volume of active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11274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311274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52616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0" y="452616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" y="5939581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5939581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08894"/>
            <a:ext cx="2571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2108894"/>
            <a:ext cx="2857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522315"/>
            <a:ext cx="2286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3522315"/>
            <a:ext cx="20002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935735"/>
            <a:ext cx="2286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4935735"/>
            <a:ext cx="285750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" y="80210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F3A5F"/>
                </a:solidFill>
                <a:latin typeface="Inter"/>
              </a:rPr>
              <a:t>Key Business Insights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1899344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089844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Targeted Enforcement: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Increase traffic police presence and speed monitoring heavily around the 17:00 peak hour.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50" y="1899344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2750" y="2089844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Infrastructure Upgrades: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Modernize junction layouts and intersection safety designs specifically on Single Carriageways.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31276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50326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Zone-Specific Awareness: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Launch localized road safety awareness campaigns focused intensely on urban 30 mph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1250" y="331276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2750" y="350326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District Focus: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Prioritize Birmingham for initial pilot programs regarding new smart traffic monitoring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472618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91668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Weekend Patrols: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Adjust emergency resource allocation to account for the unexpected Saturday traffic incident surges.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4726185"/>
            <a:ext cx="5429250" cy="122292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2750" y="4916685"/>
            <a:ext cx="4667250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1F3A5F"/>
                </a:solidFill>
                <a:latin typeface="Inter"/>
              </a:rPr>
              <a:t>Predictive Deployment: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Improve accident prevention strategies by integrating these historical trends into predictive analytics.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11274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311274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52616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0" y="4526160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" y="5939581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5939581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08894"/>
            <a:ext cx="22860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2108894"/>
            <a:ext cx="2286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522315"/>
            <a:ext cx="2286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3522315"/>
            <a:ext cx="2286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935735"/>
            <a:ext cx="2286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4935735"/>
            <a:ext cx="228600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90525" y="676423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Actionable Recommendations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00337"/>
            <a:ext cx="3775323" cy="2447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573" y="2700337"/>
            <a:ext cx="3128664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987" y="2700337"/>
            <a:ext cx="3573660" cy="2447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033712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795712"/>
            <a:ext cx="193024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SemiBold"/>
              </a:rPr>
              <a:t>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67187"/>
            <a:ext cx="318477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Implement Machine Learning (ML) algorithms for accident prediction and AI-powered risk detection based on historical patterns.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848" y="3033712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7848" y="3795712"/>
            <a:ext cx="206025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SemiBold"/>
              </a:rPr>
              <a:t>Real-Time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7848" y="4167187"/>
            <a:ext cx="253811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Integrate live Traffic and Weather APIs to transition the platform into a real-time monitoring dashboard.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262" y="3033712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42262" y="3795712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Inter SemiBold"/>
              </a:rPr>
              <a:t>Enterprise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2262" y="4167187"/>
            <a:ext cx="298311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Deploy to Power BI Service utilizing Row-Level Security (RLS) and optimize layout for the Mobile Dashboard experience.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167062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148" y="3167062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5612" y="3167062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1151792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F3A5F"/>
                </a:solidFill>
                <a:latin typeface="Inter"/>
              </a:rPr>
              <a:t>Future Enhancements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0913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275" y="1864965"/>
            <a:ext cx="11601450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Inter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788890"/>
            <a:ext cx="11049000" cy="3641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002060"/>
                </a:solidFill>
                <a:latin typeface="Inter Medium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756570"/>
            <a:ext cx="762000" cy="28575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376"/>
            <a:ext cx="1890345" cy="552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858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Aparajita</vt:lpstr>
      <vt:lpstr>Arial</vt:lpstr>
      <vt:lpstr>Calibri</vt:lpstr>
      <vt:lpstr>Consolas SemiBold</vt:lpstr>
      <vt:lpstr>Inter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Prince Kumar</dc:creator>
  <cp:keywords/>
  <dc:description>generated using python-pptx</dc:description>
  <cp:lastModifiedBy>Md Zahid</cp:lastModifiedBy>
  <cp:revision>12</cp:revision>
  <dcterms:created xsi:type="dcterms:W3CDTF">2013-01-27T09:14:16Z</dcterms:created>
  <dcterms:modified xsi:type="dcterms:W3CDTF">2026-08-04T07:25:05Z</dcterms:modified>
  <cp:category/>
</cp:coreProperties>
</file>