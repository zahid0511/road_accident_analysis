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9" d="100"/>
          <a:sy n="109" d="100"/>
        </p:scale>
        <p:origin x="63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5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5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10" Type="http://schemas.openxmlformats.org/officeDocument/2006/relationships/image" Target="../media/image5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62000" y="1118145"/>
            <a:ext cx="5350668" cy="17312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484"/>
              </a:lnSpc>
            </a:pPr>
            <a:r>
              <a:rPr sz="3900" b="1" i="0" u="none" dirty="0" smtClean="0">
                <a:solidFill>
                  <a:srgbClr val="1F3A5F"/>
                </a:solidFill>
                <a:latin typeface="Inter"/>
              </a:rPr>
              <a:t>Road </a:t>
            </a:r>
            <a:r>
              <a:rPr sz="3900" b="1" i="0" u="none" dirty="0">
                <a:solidFill>
                  <a:srgbClr val="1F3A5F"/>
                </a:solidFill>
                <a:latin typeface="Inter"/>
              </a:rPr>
              <a:t>Accident Intelligence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1999" y="3017341"/>
            <a:ext cx="5559669" cy="3206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 dirty="0">
                <a:solidFill>
                  <a:srgbClr val="64748B"/>
                </a:solidFill>
                <a:latin typeface="Inter"/>
              </a:rPr>
              <a:t>Interactive Business Intelligence Dashboard using Power BI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026991"/>
            <a:ext cx="200025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" y="4026991"/>
            <a:ext cx="200025" cy="228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7800" y="4026991"/>
            <a:ext cx="257175" cy="228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3450" y="5604569"/>
            <a:ext cx="4924425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1" i="0" u="none">
                <a:solidFill>
                  <a:srgbClr val="1F3A5F"/>
                </a:solidFill>
                <a:latin typeface="Inter"/>
              </a:rPr>
              <a:t>Prepared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5867400"/>
            <a:ext cx="4924425" cy="692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IN" sz="1125" dirty="0" err="1" smtClean="0">
                <a:solidFill>
                  <a:srgbClr val="475569"/>
                </a:solidFill>
                <a:latin typeface="Inter"/>
              </a:rPr>
              <a:t>Md</a:t>
            </a:r>
            <a:r>
              <a:rPr lang="en-IN" sz="1125" dirty="0" smtClean="0">
                <a:solidFill>
                  <a:srgbClr val="475569"/>
                </a:solidFill>
                <a:latin typeface="Inter"/>
              </a:rPr>
              <a:t> </a:t>
            </a:r>
            <a:r>
              <a:rPr lang="en-IN" sz="1125" dirty="0" err="1" smtClean="0">
                <a:solidFill>
                  <a:srgbClr val="475569"/>
                </a:solidFill>
                <a:latin typeface="Inter"/>
              </a:rPr>
              <a:t>Zahid</a:t>
            </a:r>
            <a:endParaRPr lang="en-IN" sz="1125" dirty="0" smtClean="0">
              <a:solidFill>
                <a:srgbClr val="475569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lang="en-IN" sz="1125" dirty="0" err="1" smtClean="0">
                <a:solidFill>
                  <a:srgbClr val="475569"/>
                </a:solidFill>
                <a:latin typeface="Inter"/>
              </a:rPr>
              <a:t>Ramtanay</a:t>
            </a:r>
            <a:r>
              <a:rPr lang="en-IN" sz="1125" dirty="0" smtClean="0">
                <a:solidFill>
                  <a:srgbClr val="475569"/>
                </a:solidFill>
                <a:latin typeface="Inter"/>
              </a:rPr>
              <a:t> </a:t>
            </a:r>
            <a:r>
              <a:rPr lang="en-IN" sz="1125" dirty="0" err="1" smtClean="0">
                <a:solidFill>
                  <a:srgbClr val="475569"/>
                </a:solidFill>
                <a:latin typeface="Inter"/>
              </a:rPr>
              <a:t>Chakraborty</a:t>
            </a:r>
            <a:endParaRPr lang="en-IN" sz="1125" dirty="0" smtClean="0">
              <a:solidFill>
                <a:srgbClr val="475569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lang="en-IN" sz="1125" b="0" i="0" u="none" dirty="0" smtClean="0">
                <a:solidFill>
                  <a:srgbClr val="475569"/>
                </a:solidFill>
                <a:latin typeface="Inter"/>
              </a:rPr>
              <a:t>Prince Kumar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892" y="0"/>
            <a:ext cx="5668108" cy="6858000"/>
          </a:xfrm>
          <a:prstGeom prst="rect">
            <a:avLst/>
          </a:prstGeom>
        </p:spPr>
      </p:pic>
      <p:sp>
        <p:nvSpPr>
          <p:cNvPr id="13" name="AutoShape 2" descr="blob:https://web.whatsapp.com/6df38e0b-8c6c-40f6-8853-a067da2f7d23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0913"/>
            <a:ext cx="1890345" cy="55256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999357"/>
            <a:ext cx="5286375" cy="3849737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125" y="1999357"/>
            <a:ext cx="5286375" cy="38497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2025" y="2427982"/>
            <a:ext cx="3570446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1E293B"/>
                </a:solidFill>
                <a:latin typeface="Inter SemiBold"/>
              </a:rPr>
              <a:t>Business Problem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025" y="2847082"/>
            <a:ext cx="4505325" cy="13714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475569"/>
                </a:solidFill>
                <a:latin typeface="Inter"/>
              </a:rPr>
              <a:t>Road traffic collisions pose a significant socio-economic challenge. This initiative aims to thoroughly analyze historical collision data to identify high-risk zones, peak incident times, and underlying contributing factors.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025" y="4361408"/>
            <a:ext cx="4505325" cy="109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475569"/>
                </a:solidFill>
                <a:latin typeface="Inter"/>
              </a:rPr>
              <a:t>Expected Impact: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The resulting intelligence empowers stakeholders to deploy targeted safety interventions, optimize traffic law enforcement, and ultimately reduce overall casualty rates.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4650" y="2427982"/>
            <a:ext cx="27203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1E293B"/>
                </a:solidFill>
                <a:latin typeface="Inter SemiBold"/>
              </a:rPr>
              <a:t>Dataset &amp; Technologies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4650" y="2847082"/>
            <a:ext cx="4162425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475569"/>
                </a:solidFill>
                <a:latin typeface="Inter"/>
              </a:rPr>
              <a:t>Source: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UK Road Safety Accident Dataset (Kaggle)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4650" y="3264247"/>
            <a:ext cx="981075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475569"/>
                </a:solidFill>
                <a:latin typeface="Inter"/>
              </a:rPr>
              <a:t>Tools Used: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632835"/>
            <a:ext cx="571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15150" y="3633787"/>
            <a:ext cx="2676525" cy="274290"/>
          </a:xfrm>
          <a:prstGeom prst="rect">
            <a:avLst/>
          </a:prstGeom>
          <a:noFill/>
        </p:spPr>
        <p:txBody>
          <a:bodyPr wrap="square" lIns="5715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475569"/>
                </a:solidFill>
                <a:latin typeface="Inter"/>
              </a:rPr>
              <a:t>Microsoft Power BI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907125"/>
            <a:ext cx="571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15150" y="3908077"/>
            <a:ext cx="2676525" cy="274290"/>
          </a:xfrm>
          <a:prstGeom prst="rect">
            <a:avLst/>
          </a:prstGeom>
          <a:noFill/>
        </p:spPr>
        <p:txBody>
          <a:bodyPr wrap="square" lIns="5715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475569"/>
                </a:solidFill>
                <a:latin typeface="Inter"/>
              </a:rPr>
              <a:t>Power Query (ETL)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181415"/>
            <a:ext cx="571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5150" y="4182367"/>
            <a:ext cx="2676525" cy="274290"/>
          </a:xfrm>
          <a:prstGeom prst="rect">
            <a:avLst/>
          </a:prstGeom>
          <a:noFill/>
        </p:spPr>
        <p:txBody>
          <a:bodyPr wrap="square" lIns="5715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475569"/>
                </a:solidFill>
                <a:latin typeface="Inter"/>
              </a:rPr>
              <a:t>DAX (Data Analysis Expressions)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455705"/>
            <a:ext cx="571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5150" y="4456658"/>
            <a:ext cx="2676525" cy="274290"/>
          </a:xfrm>
          <a:prstGeom prst="rect">
            <a:avLst/>
          </a:prstGeom>
          <a:noFill/>
        </p:spPr>
        <p:txBody>
          <a:bodyPr wrap="square" lIns="5715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475569"/>
                </a:solidFill>
                <a:latin typeface="Inter"/>
              </a:rPr>
              <a:t>Dimensional Data Modeling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" y="571500"/>
            <a:ext cx="1160145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F3A5F"/>
                </a:solidFill>
                <a:latin typeface="Inter"/>
              </a:rPr>
              <a:t>Project Overview</a:t>
            </a:r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913"/>
            <a:ext cx="1890345" cy="55256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4257675"/>
            <a:ext cx="2541240" cy="1773287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7419" y="1817637"/>
            <a:ext cx="2541240" cy="177328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3339" y="4257675"/>
            <a:ext cx="2541240" cy="177328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9259" y="1817637"/>
            <a:ext cx="2541240" cy="177328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71500" y="3905250"/>
            <a:ext cx="11049000" cy="381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9645" y="4486275"/>
            <a:ext cx="304800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7995" y="4895850"/>
            <a:ext cx="2248249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1F3A5F"/>
                </a:solidFill>
                <a:latin typeface="Inter SemiBold"/>
              </a:rPr>
              <a:t>1. Power Query ETL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525" y="5191125"/>
            <a:ext cx="2141190" cy="639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sz="1050" b="0" i="0" u="none">
                <a:solidFill>
                  <a:srgbClr val="475569"/>
                </a:solidFill>
                <a:latin typeface="Inter"/>
              </a:rPr>
              <a:t>Extracting raw historical datasets and loading them into the transformation engine.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25565" y="2046237"/>
            <a:ext cx="304800" cy="2667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53915" y="2455812"/>
            <a:ext cx="2248249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1F3A5F"/>
                </a:solidFill>
                <a:latin typeface="Inter SemiBold"/>
              </a:rPr>
              <a:t>2. Data Cleansing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7444" y="2751087"/>
            <a:ext cx="2141190" cy="639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sz="1050" b="0" i="0" u="none">
                <a:solidFill>
                  <a:srgbClr val="475569"/>
                </a:solidFill>
                <a:latin typeface="Inter"/>
              </a:rPr>
              <a:t>Validating data types, checking for duplicates, handling missing values, and text standardization.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61485" y="4486275"/>
            <a:ext cx="304800" cy="2667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89835" y="4895850"/>
            <a:ext cx="2248249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1F3A5F"/>
                </a:solidFill>
                <a:latin typeface="Inter SemiBold"/>
              </a:rPr>
              <a:t>3. Star Schema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3364" y="5191125"/>
            <a:ext cx="2141190" cy="639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sz="1050" b="0" i="0" u="none">
                <a:solidFill>
                  <a:srgbClr val="475569"/>
                </a:solidFill>
                <a:latin typeface="Inter"/>
              </a:rPr>
              <a:t>Creating a dedicated Date table and establishing robust 1-to-many relationship modeling.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16455" y="2046237"/>
            <a:ext cx="266700" cy="2667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225755" y="2455812"/>
            <a:ext cx="2248249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1F3A5F"/>
                </a:solidFill>
                <a:latin typeface="Inter SemiBold"/>
              </a:rPr>
              <a:t>4. DAX &amp; Visuals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79284" y="2751087"/>
            <a:ext cx="2141190" cy="639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sz="1050" b="0" i="0" u="none">
                <a:solidFill>
                  <a:srgbClr val="475569"/>
                </a:solidFill>
                <a:latin typeface="Inter"/>
              </a:rPr>
              <a:t>Authoring optimized DAX measures and deploying the interactive Power BI dashboard.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27820" y="381000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F4A30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563740" y="381000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F4A30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399659" y="381000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F4A30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235579" y="381000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F4A30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71500" y="571500"/>
            <a:ext cx="1160145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F3A5F"/>
                </a:solidFill>
                <a:latin typeface="Inter"/>
              </a:rPr>
              <a:t>Data Preparation &amp; Modeling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10913"/>
            <a:ext cx="1890345" cy="55256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621458"/>
            <a:ext cx="2547937" cy="2605682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5187" y="2621458"/>
            <a:ext cx="2547937" cy="260568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875" y="2621458"/>
            <a:ext cx="2547937" cy="260568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2562" y="2621458"/>
            <a:ext cx="2547937" cy="260568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775" y="2954833"/>
            <a:ext cx="571500" cy="571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6775" y="3716833"/>
            <a:ext cx="1980247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25" b="0" i="0" u="none">
                <a:solidFill>
                  <a:srgbClr val="1E293B"/>
                </a:solidFill>
                <a:latin typeface="Inter SemiBold"/>
              </a:rPr>
              <a:t>Executive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6775" y="4078783"/>
            <a:ext cx="1957387" cy="853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050" b="0" i="0" u="none">
                <a:solidFill>
                  <a:srgbClr val="475569"/>
                </a:solidFill>
                <a:latin typeface="Inter"/>
              </a:rPr>
              <a:t>High-level KPI Cards, severity distribution, and monthly trend tracking designed for strategic leadership.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0462" y="2954833"/>
            <a:ext cx="571500" cy="571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00462" y="3716833"/>
            <a:ext cx="1590198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25" b="0" i="0" u="none">
                <a:solidFill>
                  <a:srgbClr val="1E293B"/>
                </a:solidFill>
                <a:latin typeface="Inter SemiBold"/>
              </a:rPr>
              <a:t>Detailed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0462" y="4078783"/>
            <a:ext cx="1957387" cy="853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050" b="0" i="0" u="none">
                <a:solidFill>
                  <a:srgbClr val="475569"/>
                </a:solidFill>
                <a:latin typeface="Inter"/>
              </a:rPr>
              <a:t>Deep-dive into Time Intelligence, localized road conditions, and granular environmental factors.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4150" y="2954833"/>
            <a:ext cx="571500" cy="571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34150" y="3716833"/>
            <a:ext cx="1610201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25" b="0" i="0" u="none">
                <a:solidFill>
                  <a:srgbClr val="1E293B"/>
                </a:solidFill>
                <a:latin typeface="Inter SemiBold"/>
              </a:rPr>
              <a:t>Business Insights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4150" y="4078783"/>
            <a:ext cx="1957387" cy="853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050" b="0" i="0" u="none">
                <a:solidFill>
                  <a:srgbClr val="475569"/>
                </a:solidFill>
                <a:latin typeface="Inter"/>
              </a:rPr>
              <a:t>Dynamic cross-filtering, map visuals, and drill-down capabilities to uncover hidden collision correlations.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67837" y="2954833"/>
            <a:ext cx="571500" cy="571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367837" y="3716833"/>
            <a:ext cx="1540192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25" b="0" i="0" u="none">
                <a:solidFill>
                  <a:srgbClr val="1E293B"/>
                </a:solidFill>
                <a:latin typeface="Inter SemiBold"/>
              </a:rPr>
              <a:t>Decision Making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67837" y="4078783"/>
            <a:ext cx="1957387" cy="853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050" b="0" i="0" u="none">
                <a:solidFill>
                  <a:srgbClr val="475569"/>
                </a:solidFill>
                <a:latin typeface="Inter"/>
              </a:rPr>
              <a:t>Translating visual intelligence into data-driven recommendations for traffic enforcement optimization.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075" y="3088183"/>
            <a:ext cx="342900" cy="3048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33812" y="3088183"/>
            <a:ext cx="304800" cy="3048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05600" y="3088183"/>
            <a:ext cx="228600" cy="30480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01187" y="3088183"/>
            <a:ext cx="304800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71500" y="571500"/>
            <a:ext cx="1160145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 dirty="0">
                <a:solidFill>
                  <a:srgbClr val="1F3A5F"/>
                </a:solidFill>
                <a:latin typeface="Inter"/>
              </a:rPr>
              <a:t>Dashboard Architecture Workflow</a:t>
            </a:r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0" y="10913"/>
            <a:ext cx="1890345" cy="55256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41477" y="3596685"/>
            <a:ext cx="5550693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1E293B"/>
                </a:solidFill>
                <a:latin typeface="Inter SemiBold"/>
              </a:rPr>
              <a:t>Executive KPIs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41477" y="1154152"/>
            <a:ext cx="5550693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1E293B"/>
                </a:solidFill>
                <a:latin typeface="Inter SemiBold"/>
              </a:rPr>
              <a:t>Core Visualizations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42876" y="4084190"/>
            <a:ext cx="571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1749" y="4083552"/>
            <a:ext cx="5095875" cy="274290"/>
          </a:xfrm>
          <a:prstGeom prst="rect">
            <a:avLst/>
          </a:prstGeom>
          <a:noFill/>
        </p:spPr>
        <p:txBody>
          <a:bodyPr wrap="square" lIns="5715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 dirty="0">
                <a:solidFill>
                  <a:srgbClr val="475569"/>
                </a:solidFill>
                <a:latin typeface="Inter"/>
              </a:rPr>
              <a:t>Total Incidents:</a:t>
            </a:r>
            <a:r>
              <a:rPr sz="1350" b="0" i="0" u="none" dirty="0">
                <a:solidFill>
                  <a:srgbClr val="475569"/>
                </a:solidFill>
                <a:latin typeface="Inter"/>
              </a:rPr>
              <a:t> 308K Accidents &amp; 418K Casualties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8131" y="4571695"/>
            <a:ext cx="571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00026" y="4563904"/>
            <a:ext cx="5095875" cy="274290"/>
          </a:xfrm>
          <a:prstGeom prst="rect">
            <a:avLst/>
          </a:prstGeom>
          <a:noFill/>
        </p:spPr>
        <p:txBody>
          <a:bodyPr wrap="square" lIns="5715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 dirty="0">
                <a:solidFill>
                  <a:srgbClr val="475569"/>
                </a:solidFill>
                <a:latin typeface="Inter"/>
              </a:rPr>
              <a:t>Severity Breakdown:</a:t>
            </a:r>
            <a:r>
              <a:rPr sz="1350" b="0" i="0" u="none" dirty="0">
                <a:solidFill>
                  <a:srgbClr val="475569"/>
                </a:solidFill>
                <a:latin typeface="Inter"/>
              </a:rPr>
              <a:t> 263K Slight, 41K Serious, 4K Fatal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14301" y="4978011"/>
            <a:ext cx="571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1749" y="4950198"/>
            <a:ext cx="5095875" cy="274290"/>
          </a:xfrm>
          <a:prstGeom prst="rect">
            <a:avLst/>
          </a:prstGeom>
          <a:noFill/>
        </p:spPr>
        <p:txBody>
          <a:bodyPr wrap="square" lIns="5715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475569"/>
                </a:solidFill>
                <a:latin typeface="Inter"/>
              </a:rPr>
              <a:t>Fatal Accident Rate: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1.28%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41477" y="1626553"/>
            <a:ext cx="571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7581" y="1587646"/>
            <a:ext cx="5095875" cy="548580"/>
          </a:xfrm>
          <a:prstGeom prst="rect">
            <a:avLst/>
          </a:prstGeom>
          <a:noFill/>
        </p:spPr>
        <p:txBody>
          <a:bodyPr wrap="square" lIns="5715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475569"/>
                </a:solidFill>
                <a:latin typeface="Inter"/>
              </a:rPr>
              <a:t>Geographic Profiling: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64.46% (198.53K) located in Urban areas.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1477" y="2057413"/>
            <a:ext cx="571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 dirty="0">
                <a:solidFill>
                  <a:srgbClr val="475569"/>
                </a:solidFill>
                <a:latin typeface="Inter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12836" y="2051193"/>
            <a:ext cx="5095875" cy="548580"/>
          </a:xfrm>
          <a:prstGeom prst="rect">
            <a:avLst/>
          </a:prstGeom>
          <a:noFill/>
        </p:spPr>
        <p:txBody>
          <a:bodyPr wrap="square" lIns="5715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475569"/>
                </a:solidFill>
                <a:latin typeface="Inter"/>
              </a:rPr>
              <a:t>Temporal Trends: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Monthly casualty spikes and drops mapped.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1477" y="2402725"/>
            <a:ext cx="571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 dirty="0">
                <a:solidFill>
                  <a:srgbClr val="475569"/>
                </a:solidFill>
                <a:latin typeface="Inter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7581" y="2355477"/>
            <a:ext cx="5095875" cy="548580"/>
          </a:xfrm>
          <a:prstGeom prst="rect">
            <a:avLst/>
          </a:prstGeom>
          <a:noFill/>
        </p:spPr>
        <p:txBody>
          <a:bodyPr wrap="square" lIns="5715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 dirty="0">
                <a:solidFill>
                  <a:srgbClr val="475569"/>
                </a:solidFill>
                <a:latin typeface="Inter"/>
              </a:rPr>
              <a:t>Interactive Elements:</a:t>
            </a:r>
            <a:r>
              <a:rPr sz="1350" b="0" i="0" u="none" dirty="0">
                <a:solidFill>
                  <a:srgbClr val="475569"/>
                </a:solidFill>
                <a:latin typeface="Inter"/>
              </a:rPr>
              <a:t> Dynamic slicers for Year, Month, Weather, and Severity.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2006" y="599909"/>
            <a:ext cx="1160145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 dirty="0">
                <a:solidFill>
                  <a:srgbClr val="1F3A5F"/>
                </a:solidFill>
                <a:latin typeface="Inter"/>
              </a:rPr>
              <a:t>Executive Dashboard Overview</a:t>
            </a:r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13"/>
            <a:ext cx="1890345" cy="552562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30" y="1626553"/>
            <a:ext cx="6172181" cy="404633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334125" y="2265164"/>
            <a:ext cx="5550693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 dirty="0">
                <a:solidFill>
                  <a:srgbClr val="1E293B"/>
                </a:solidFill>
                <a:latin typeface="Inter SemiBold"/>
              </a:rPr>
              <a:t>Key Risk Factors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34125" y="3792884"/>
            <a:ext cx="5550693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1E293B"/>
                </a:solidFill>
                <a:latin typeface="Inter SemiBold"/>
              </a:rPr>
              <a:t>Infrastructure &amp;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67475" y="2683311"/>
            <a:ext cx="571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24625" y="2684264"/>
            <a:ext cx="5095875" cy="274290"/>
          </a:xfrm>
          <a:prstGeom prst="rect">
            <a:avLst/>
          </a:prstGeom>
          <a:noFill/>
        </p:spPr>
        <p:txBody>
          <a:bodyPr wrap="square" lIns="5715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475569"/>
                </a:solidFill>
                <a:latin typeface="Inter"/>
              </a:rPr>
              <a:t>Peak Accident Hour: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17:00 (5 PM) afternoon rush.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67475" y="2957601"/>
            <a:ext cx="571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24625" y="2958554"/>
            <a:ext cx="5095875" cy="274290"/>
          </a:xfrm>
          <a:prstGeom prst="rect">
            <a:avLst/>
          </a:prstGeom>
          <a:noFill/>
        </p:spPr>
        <p:txBody>
          <a:bodyPr wrap="square" lIns="5715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475569"/>
                </a:solidFill>
                <a:latin typeface="Inter"/>
              </a:rPr>
              <a:t>Top District: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Birmingham recorded the highest volume.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7475" y="3231892"/>
            <a:ext cx="571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4625" y="3232844"/>
            <a:ext cx="5095875" cy="274290"/>
          </a:xfrm>
          <a:prstGeom prst="rect">
            <a:avLst/>
          </a:prstGeom>
          <a:noFill/>
        </p:spPr>
        <p:txBody>
          <a:bodyPr wrap="square" lIns="5715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 dirty="0">
                <a:solidFill>
                  <a:srgbClr val="475569"/>
                </a:solidFill>
                <a:latin typeface="Inter"/>
              </a:rPr>
              <a:t>Speed Limit Impact:</a:t>
            </a:r>
            <a:r>
              <a:rPr sz="1350" b="0" i="0" u="none" dirty="0">
                <a:solidFill>
                  <a:srgbClr val="475569"/>
                </a:solidFill>
                <a:latin typeface="Inter"/>
              </a:rPr>
              <a:t> 30 mph zones show the most collisions.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7475" y="4211032"/>
            <a:ext cx="571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4625" y="4211984"/>
            <a:ext cx="5095875" cy="274290"/>
          </a:xfrm>
          <a:prstGeom prst="rect">
            <a:avLst/>
          </a:prstGeom>
          <a:noFill/>
        </p:spPr>
        <p:txBody>
          <a:bodyPr wrap="square" lIns="5715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 dirty="0">
                <a:solidFill>
                  <a:srgbClr val="475569"/>
                </a:solidFill>
                <a:latin typeface="Inter"/>
              </a:rPr>
              <a:t>Road Type:</a:t>
            </a:r>
            <a:r>
              <a:rPr sz="1350" b="0" i="0" u="none" dirty="0">
                <a:solidFill>
                  <a:srgbClr val="475569"/>
                </a:solidFill>
                <a:latin typeface="Inter"/>
              </a:rPr>
              <a:t> Single carriageways are the most accident-prone.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7475" y="4485322"/>
            <a:ext cx="571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4625" y="4486275"/>
            <a:ext cx="5095875" cy="548580"/>
          </a:xfrm>
          <a:prstGeom prst="rect">
            <a:avLst/>
          </a:prstGeom>
          <a:noFill/>
        </p:spPr>
        <p:txBody>
          <a:bodyPr wrap="square" lIns="5715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475569"/>
                </a:solidFill>
                <a:latin typeface="Inter"/>
              </a:rPr>
              <a:t>Surface &amp; Light: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Peak volumes paradoxically occur during Daylight and on Dry surfaces.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7475" y="5033902"/>
            <a:ext cx="571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4625" y="5034855"/>
            <a:ext cx="5095875" cy="548580"/>
          </a:xfrm>
          <a:prstGeom prst="rect">
            <a:avLst/>
          </a:prstGeom>
          <a:noFill/>
        </p:spPr>
        <p:txBody>
          <a:bodyPr wrap="square" lIns="5715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475569"/>
                </a:solidFill>
                <a:latin typeface="Inter"/>
              </a:rPr>
              <a:t>Day of Week: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Saturdays show the highest total accidents overall.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654" y="563475"/>
            <a:ext cx="1160145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 dirty="0">
                <a:solidFill>
                  <a:srgbClr val="1F3A5F"/>
                </a:solidFill>
                <a:latin typeface="Inter"/>
              </a:rPr>
              <a:t>Detailed Analysis Dashboard</a:t>
            </a:r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13"/>
            <a:ext cx="1890345" cy="552562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17" y="1527915"/>
            <a:ext cx="6124575" cy="45299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225" y="1713746"/>
            <a:ext cx="5108331" cy="4410075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400800" y="1713746"/>
            <a:ext cx="5079756" cy="4415591"/>
          </a:xfrm>
          <a:prstGeom prst="roundRect">
            <a:avLst/>
          </a:prstGeom>
          <a:solidFill>
            <a:schemeClr val="tx2"/>
          </a:solidFill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9262"/>
            <a:ext cx="5667375" cy="44100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2025" y="2147887"/>
            <a:ext cx="2520315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1E293B"/>
                </a:solidFill>
                <a:latin typeface="Inter SemiBold"/>
              </a:rPr>
              <a:t>Analytical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025" y="2566987"/>
            <a:ext cx="4886325" cy="822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 dirty="0">
                <a:solidFill>
                  <a:srgbClr val="475569"/>
                </a:solidFill>
                <a:latin typeface="Inter"/>
              </a:rPr>
              <a:t>The semantic model utilizes highly optimized DAX expressions to deliver rapid, dynamic insights across a large dataset: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375" y="3579405"/>
            <a:ext cx="571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525" y="3580358"/>
            <a:ext cx="4695825" cy="274290"/>
          </a:xfrm>
          <a:prstGeom prst="rect">
            <a:avLst/>
          </a:prstGeom>
          <a:noFill/>
        </p:spPr>
        <p:txBody>
          <a:bodyPr wrap="square" lIns="5715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475569"/>
                </a:solidFill>
                <a:latin typeface="Inter"/>
              </a:rPr>
              <a:t>Base Aggregations: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Total Accidents, Total Casualties.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375" y="3853695"/>
            <a:ext cx="571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525" y="3854648"/>
            <a:ext cx="4695825" cy="548580"/>
          </a:xfrm>
          <a:prstGeom prst="rect">
            <a:avLst/>
          </a:prstGeom>
          <a:noFill/>
        </p:spPr>
        <p:txBody>
          <a:bodyPr wrap="square" lIns="5715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475569"/>
                </a:solidFill>
                <a:latin typeface="Inter"/>
              </a:rPr>
              <a:t>Severity Filters: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Explicit CALCULATE measures for Fatal, Serious, and Slight categorizations.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4402276"/>
            <a:ext cx="571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525" y="4403228"/>
            <a:ext cx="4695825" cy="548580"/>
          </a:xfrm>
          <a:prstGeom prst="rect">
            <a:avLst/>
          </a:prstGeom>
          <a:noFill/>
        </p:spPr>
        <p:txBody>
          <a:bodyPr wrap="square" lIns="5715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475569"/>
                </a:solidFill>
                <a:latin typeface="Inter"/>
              </a:rPr>
              <a:t>Ratio Engineering: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Fatal Accident Rate (utilizing safe DIVIDE).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375" y="4950856"/>
            <a:ext cx="571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525" y="4951809"/>
            <a:ext cx="4695825" cy="548580"/>
          </a:xfrm>
          <a:prstGeom prst="rect">
            <a:avLst/>
          </a:prstGeom>
          <a:noFill/>
        </p:spPr>
        <p:txBody>
          <a:bodyPr wrap="square" lIns="5715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475569"/>
                </a:solidFill>
                <a:latin typeface="Inter"/>
              </a:rPr>
              <a:t>Advanced Ranking: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TOPN functions to isolate peak incident hours dynamically.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5352" y="2076449"/>
            <a:ext cx="219075" cy="171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65023" y="2047874"/>
            <a:ext cx="3024909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 dirty="0">
                <a:solidFill>
                  <a:srgbClr val="F8FAFC"/>
                </a:solidFill>
                <a:latin typeface="Consolas SemiBold"/>
              </a:rPr>
              <a:t>Semantic Model Core Measures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0075" y="659610"/>
            <a:ext cx="1160145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 dirty="0">
                <a:solidFill>
                  <a:srgbClr val="1F3A5F"/>
                </a:solidFill>
                <a:latin typeface="Inter"/>
              </a:rPr>
              <a:t>DAX Measures &amp; Analytics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5352" y="2415956"/>
            <a:ext cx="3442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smtClean="0">
                <a:solidFill>
                  <a:schemeClr val="accent6"/>
                </a:solidFill>
                <a:latin typeface="Aparajita" panose="02020603050405020304" pitchFamily="18" charset="0"/>
                <a:cs typeface="Aparajita" panose="02020603050405020304" pitchFamily="18" charset="0"/>
              </a:rPr>
              <a:t>Fatal Accident Rate </a:t>
            </a:r>
            <a:r>
              <a:rPr lang="en-IN" dirty="0" smtClean="0">
                <a:solidFill>
                  <a:schemeClr val="bg1"/>
                </a:solidFill>
                <a:latin typeface="Aparajita" panose="02020603050405020304" pitchFamily="18" charset="0"/>
                <a:cs typeface="Aparajita" panose="02020603050405020304" pitchFamily="18" charset="0"/>
              </a:rPr>
              <a:t>=</a:t>
            </a:r>
            <a:r>
              <a:rPr lang="en-IN" dirty="0" smtClean="0">
                <a:solidFill>
                  <a:schemeClr val="accent6"/>
                </a:solidFill>
                <a:latin typeface="Aparajita" panose="02020603050405020304" pitchFamily="18" charset="0"/>
                <a:cs typeface="Aparajita" panose="02020603050405020304" pitchFamily="18" charset="0"/>
              </a:rPr>
              <a:t> </a:t>
            </a:r>
            <a:r>
              <a:rPr lang="en-IN" dirty="0" smtClean="0">
                <a:solidFill>
                  <a:srgbClr val="00B0F0"/>
                </a:solidFill>
                <a:latin typeface="Aparajita" panose="02020603050405020304" pitchFamily="18" charset="0"/>
                <a:cs typeface="Aparajita" panose="02020603050405020304" pitchFamily="18" charset="0"/>
              </a:rPr>
              <a:t>DIVIDE</a:t>
            </a:r>
            <a:r>
              <a:rPr lang="en-IN" dirty="0" smtClean="0">
                <a:solidFill>
                  <a:schemeClr val="bg1"/>
                </a:solidFill>
                <a:latin typeface="Aparajita" panose="02020603050405020304" pitchFamily="18" charset="0"/>
                <a:cs typeface="Aparajita" panose="02020603050405020304" pitchFamily="18" charset="0"/>
              </a:rPr>
              <a:t>([fatal],[Total_Accidents],0)</a:t>
            </a:r>
            <a:endParaRPr lang="en-IN" dirty="0">
              <a:solidFill>
                <a:schemeClr val="bg1"/>
              </a:solidFill>
              <a:latin typeface="Aparajita" panose="02020603050405020304" pitchFamily="18" charset="0"/>
              <a:cs typeface="Aparajita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112248" y="3122271"/>
            <a:ext cx="34421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smtClean="0">
                <a:solidFill>
                  <a:schemeClr val="accent6"/>
                </a:solidFill>
                <a:latin typeface="Aparajita" panose="02020603050405020304" pitchFamily="18" charset="0"/>
                <a:cs typeface="Aparajita" panose="02020603050405020304" pitchFamily="18" charset="0"/>
              </a:rPr>
              <a:t>Total_Accidents </a:t>
            </a:r>
            <a:r>
              <a:rPr lang="en-IN" dirty="0" smtClean="0">
                <a:solidFill>
                  <a:schemeClr val="bg1"/>
                </a:solidFill>
                <a:latin typeface="Aparajita" panose="02020603050405020304" pitchFamily="18" charset="0"/>
                <a:cs typeface="Aparajita" panose="02020603050405020304" pitchFamily="18" charset="0"/>
              </a:rPr>
              <a:t>=</a:t>
            </a:r>
            <a:r>
              <a:rPr lang="en-IN" dirty="0" smtClean="0">
                <a:solidFill>
                  <a:schemeClr val="accent6"/>
                </a:solidFill>
                <a:latin typeface="Aparajita" panose="02020603050405020304" pitchFamily="18" charset="0"/>
                <a:cs typeface="Aparajita" panose="02020603050405020304" pitchFamily="18" charset="0"/>
              </a:rPr>
              <a:t> </a:t>
            </a:r>
            <a:r>
              <a:rPr lang="en-IN" dirty="0" smtClean="0">
                <a:solidFill>
                  <a:srgbClr val="00B0F0"/>
                </a:solidFill>
                <a:latin typeface="Aparajita" panose="02020603050405020304" pitchFamily="18" charset="0"/>
                <a:cs typeface="Aparajita" panose="02020603050405020304" pitchFamily="18" charset="0"/>
              </a:rPr>
              <a:t>CALCULATE</a:t>
            </a:r>
            <a:r>
              <a:rPr lang="en-IN" dirty="0" smtClean="0">
                <a:solidFill>
                  <a:schemeClr val="bg1"/>
                </a:solidFill>
                <a:latin typeface="Aparajita" panose="02020603050405020304" pitchFamily="18" charset="0"/>
                <a:cs typeface="Aparajita" panose="02020603050405020304" pitchFamily="18" charset="0"/>
              </a:rPr>
              <a:t>(</a:t>
            </a:r>
            <a:r>
              <a:rPr lang="en-IN" dirty="0" smtClean="0">
                <a:solidFill>
                  <a:srgbClr val="00B0F0"/>
                </a:solidFill>
                <a:latin typeface="Aparajita" panose="02020603050405020304" pitchFamily="18" charset="0"/>
                <a:cs typeface="Aparajita" panose="02020603050405020304" pitchFamily="18" charset="0"/>
              </a:rPr>
              <a:t>COUNT</a:t>
            </a:r>
            <a:r>
              <a:rPr lang="en-IN" dirty="0" smtClean="0">
                <a:solidFill>
                  <a:schemeClr val="bg1"/>
                </a:solidFill>
                <a:latin typeface="Aparajita" panose="02020603050405020304" pitchFamily="18" charset="0"/>
                <a:cs typeface="Aparajita" panose="02020603050405020304" pitchFamily="18" charset="0"/>
              </a:rPr>
              <a:t>(‘Road Accident Data’ [Accident_Index]))</a:t>
            </a:r>
            <a:endParaRPr lang="en-IN" dirty="0">
              <a:solidFill>
                <a:schemeClr val="bg1"/>
              </a:solidFill>
              <a:latin typeface="Aparajita" panose="02020603050405020304" pitchFamily="18" charset="0"/>
              <a:cs typeface="Aparajita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115180" y="4074770"/>
            <a:ext cx="34421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smtClean="0">
                <a:solidFill>
                  <a:schemeClr val="accent6"/>
                </a:solidFill>
                <a:latin typeface="Aparajita" panose="02020603050405020304" pitchFamily="18" charset="0"/>
                <a:cs typeface="Aparajita" panose="02020603050405020304" pitchFamily="18" charset="0"/>
              </a:rPr>
              <a:t>Total_Casualties </a:t>
            </a:r>
            <a:r>
              <a:rPr lang="en-IN" dirty="0" smtClean="0">
                <a:solidFill>
                  <a:schemeClr val="bg1"/>
                </a:solidFill>
                <a:latin typeface="Aparajita" panose="02020603050405020304" pitchFamily="18" charset="0"/>
                <a:cs typeface="Aparajita" panose="02020603050405020304" pitchFamily="18" charset="0"/>
              </a:rPr>
              <a:t>=</a:t>
            </a:r>
            <a:r>
              <a:rPr lang="en-IN" dirty="0" smtClean="0">
                <a:solidFill>
                  <a:schemeClr val="accent6"/>
                </a:solidFill>
                <a:latin typeface="Aparajita" panose="02020603050405020304" pitchFamily="18" charset="0"/>
                <a:cs typeface="Aparajita" panose="02020603050405020304" pitchFamily="18" charset="0"/>
              </a:rPr>
              <a:t> </a:t>
            </a:r>
            <a:r>
              <a:rPr lang="en-IN" dirty="0" smtClean="0">
                <a:solidFill>
                  <a:srgbClr val="00B0F0"/>
                </a:solidFill>
                <a:latin typeface="Aparajita" panose="02020603050405020304" pitchFamily="18" charset="0"/>
                <a:cs typeface="Aparajita" panose="02020603050405020304" pitchFamily="18" charset="0"/>
              </a:rPr>
              <a:t>CALCULATE</a:t>
            </a:r>
            <a:r>
              <a:rPr lang="en-IN" dirty="0" smtClean="0">
                <a:solidFill>
                  <a:schemeClr val="bg1"/>
                </a:solidFill>
                <a:latin typeface="Aparajita" panose="02020603050405020304" pitchFamily="18" charset="0"/>
                <a:cs typeface="Aparajita" panose="02020603050405020304" pitchFamily="18" charset="0"/>
              </a:rPr>
              <a:t>(</a:t>
            </a:r>
            <a:r>
              <a:rPr lang="en-IN" dirty="0" smtClean="0">
                <a:solidFill>
                  <a:srgbClr val="00B0F0"/>
                </a:solidFill>
                <a:latin typeface="Aparajita" panose="02020603050405020304" pitchFamily="18" charset="0"/>
                <a:cs typeface="Aparajita" panose="02020603050405020304" pitchFamily="18" charset="0"/>
              </a:rPr>
              <a:t>SUM</a:t>
            </a:r>
            <a:r>
              <a:rPr lang="en-IN" dirty="0" smtClean="0">
                <a:solidFill>
                  <a:schemeClr val="bg1"/>
                </a:solidFill>
                <a:latin typeface="Aparajita" panose="02020603050405020304" pitchFamily="18" charset="0"/>
                <a:cs typeface="Aparajita" panose="02020603050405020304" pitchFamily="18" charset="0"/>
              </a:rPr>
              <a:t>(‘Road Accident Data’ [Number_of_Casualties]))</a:t>
            </a:r>
            <a:endParaRPr lang="en-IN" dirty="0">
              <a:solidFill>
                <a:schemeClr val="bg1"/>
              </a:solidFill>
              <a:latin typeface="Aparajita" panose="02020603050405020304" pitchFamily="18" charset="0"/>
              <a:cs typeface="Aparajita" panose="02020603050405020304" pitchFamily="18" charset="0"/>
            </a:endParaRPr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0913"/>
            <a:ext cx="1890345" cy="55256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71500" y="1899344"/>
            <a:ext cx="5429250" cy="1222920"/>
          </a:xfrm>
          <a:prstGeom prst="roundRect">
            <a:avLst>
              <a:gd name="adj" fmla="val 93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3000" y="2089844"/>
            <a:ext cx="4667250" cy="84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1F3A5F"/>
                </a:solidFill>
                <a:latin typeface="Inter"/>
              </a:rPr>
              <a:t>Infrastructure Risk: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Most accidents (over 200K) occurred on single carriageway roads, indicating a critical need for safety interventions on these routes.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91250" y="1899344"/>
            <a:ext cx="5429250" cy="1222920"/>
          </a:xfrm>
          <a:prstGeom prst="roundRect">
            <a:avLst>
              <a:gd name="adj" fmla="val 93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762750" y="2089844"/>
            <a:ext cx="4667250" cy="84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1F3A5F"/>
                </a:solidFill>
                <a:latin typeface="Inter"/>
              </a:rPr>
              <a:t>Urban Concentration: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Urban environments experienced significantly more accidents (64.46%) due to higher baseline traffic density and complex junctions.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3312765"/>
            <a:ext cx="5429250" cy="1222920"/>
          </a:xfrm>
          <a:prstGeom prst="roundRect">
            <a:avLst>
              <a:gd name="adj" fmla="val 93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503265"/>
            <a:ext cx="4667250" cy="84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1F3A5F"/>
                </a:solidFill>
                <a:latin typeface="Inter"/>
              </a:rPr>
              <a:t>Temporal Peaks: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17:00 (5 PM) afternoon rush hour recorded the absolute highest accident frequency across the dataset.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1250" y="3312765"/>
            <a:ext cx="5429250" cy="1222920"/>
          </a:xfrm>
          <a:prstGeom prst="roundRect">
            <a:avLst>
              <a:gd name="adj" fmla="val 93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2750" y="3503265"/>
            <a:ext cx="4667250" cy="84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1F3A5F"/>
                </a:solidFill>
                <a:latin typeface="Inter"/>
              </a:rPr>
              <a:t>Weekend Surges: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Contrary to commuting assumptions, Saturdays recorded the highest overall daily accident volume.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" y="4726185"/>
            <a:ext cx="5429250" cy="1222920"/>
          </a:xfrm>
          <a:prstGeom prst="roundRect">
            <a:avLst>
              <a:gd name="adj" fmla="val 93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4916685"/>
            <a:ext cx="4667250" cy="84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1F3A5F"/>
                </a:solidFill>
                <a:latin typeface="Inter"/>
              </a:rPr>
              <a:t>Speed Zones: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Roads with a 30 mph speed limit recorded the highest incident count, reflecting dense urban driving patterns.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1250" y="4726185"/>
            <a:ext cx="5429250" cy="1222920"/>
          </a:xfrm>
          <a:prstGeom prst="roundRect">
            <a:avLst>
              <a:gd name="adj" fmla="val 93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2750" y="4916685"/>
            <a:ext cx="4667250" cy="84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1F3A5F"/>
                </a:solidFill>
                <a:latin typeface="Inter"/>
              </a:rPr>
              <a:t>Weather Paradox: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Dry road conditions and daylight hours still held the highest accident numbers, driven purely by the sheer volume of active traffic.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1500" y="3112740"/>
            <a:ext cx="542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91250" y="3112740"/>
            <a:ext cx="542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71500" y="4526160"/>
            <a:ext cx="542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91250" y="4526160"/>
            <a:ext cx="542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71500" y="5939581"/>
            <a:ext cx="542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91250" y="5939581"/>
            <a:ext cx="542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2108894"/>
            <a:ext cx="257175" cy="24765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275" y="2108894"/>
            <a:ext cx="285750" cy="24765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3522315"/>
            <a:ext cx="228600" cy="24765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275" y="3522315"/>
            <a:ext cx="200025" cy="24765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525" y="4935735"/>
            <a:ext cx="228600" cy="24765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1275" y="4935735"/>
            <a:ext cx="285750" cy="24765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71500" y="802109"/>
            <a:ext cx="1160145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F3A5F"/>
                </a:solidFill>
                <a:latin typeface="Inter"/>
              </a:rPr>
              <a:t>Key Business Insights</a:t>
            </a:r>
          </a:p>
        </p:txBody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10913"/>
            <a:ext cx="1890345" cy="55256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71500" y="1899344"/>
            <a:ext cx="5429250" cy="1222920"/>
          </a:xfrm>
          <a:prstGeom prst="roundRect">
            <a:avLst>
              <a:gd name="adj" fmla="val 93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3000" y="2089844"/>
            <a:ext cx="4667250" cy="84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1F3A5F"/>
                </a:solidFill>
                <a:latin typeface="Inter"/>
              </a:rPr>
              <a:t>Targeted Enforcement: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Increase traffic police presence and speed monitoring heavily around the 17:00 peak hour.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91250" y="1899344"/>
            <a:ext cx="5429250" cy="1222920"/>
          </a:xfrm>
          <a:prstGeom prst="roundRect">
            <a:avLst>
              <a:gd name="adj" fmla="val 93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762750" y="2089844"/>
            <a:ext cx="4667250" cy="84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1F3A5F"/>
                </a:solidFill>
                <a:latin typeface="Inter"/>
              </a:rPr>
              <a:t>Infrastructure Upgrades: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Modernize junction layouts and intersection safety designs specifically on Single Carriageways.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3312765"/>
            <a:ext cx="5429250" cy="1222920"/>
          </a:xfrm>
          <a:prstGeom prst="roundRect">
            <a:avLst>
              <a:gd name="adj" fmla="val 93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503265"/>
            <a:ext cx="4667250" cy="84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1F3A5F"/>
                </a:solidFill>
                <a:latin typeface="Inter"/>
              </a:rPr>
              <a:t>Zone-Specific Awareness: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Launch localized road safety awareness campaigns focused intensely on urban 30 mph zones.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1250" y="3312765"/>
            <a:ext cx="5429250" cy="1222920"/>
          </a:xfrm>
          <a:prstGeom prst="roundRect">
            <a:avLst>
              <a:gd name="adj" fmla="val 93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2750" y="3503265"/>
            <a:ext cx="4667250" cy="84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1F3A5F"/>
                </a:solidFill>
                <a:latin typeface="Inter"/>
              </a:rPr>
              <a:t>District Focus: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Prioritize Birmingham for initial pilot programs regarding new smart traffic monitoring systems.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" y="4726185"/>
            <a:ext cx="5429250" cy="1222920"/>
          </a:xfrm>
          <a:prstGeom prst="roundRect">
            <a:avLst>
              <a:gd name="adj" fmla="val 93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4916685"/>
            <a:ext cx="4667250" cy="84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1F3A5F"/>
                </a:solidFill>
                <a:latin typeface="Inter"/>
              </a:rPr>
              <a:t>Weekend Patrols: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Adjust emergency resource allocation to account for the unexpected Saturday traffic incident surges.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1250" y="4726185"/>
            <a:ext cx="5429250" cy="1222920"/>
          </a:xfrm>
          <a:prstGeom prst="roundRect">
            <a:avLst>
              <a:gd name="adj" fmla="val 93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2750" y="4916685"/>
            <a:ext cx="4667250" cy="84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1F3A5F"/>
                </a:solidFill>
                <a:latin typeface="Inter"/>
              </a:rPr>
              <a:t>Predictive Deployment: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Improve accident prevention strategies by integrating these historical trends into predictive analytics.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1500" y="3112740"/>
            <a:ext cx="542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91250" y="3112740"/>
            <a:ext cx="542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71500" y="4526160"/>
            <a:ext cx="542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91250" y="4526160"/>
            <a:ext cx="542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71500" y="5939581"/>
            <a:ext cx="542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91250" y="5939581"/>
            <a:ext cx="542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2108894"/>
            <a:ext cx="228600" cy="24765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1275" y="2108894"/>
            <a:ext cx="228600" cy="24765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3522315"/>
            <a:ext cx="228600" cy="24765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1275" y="3522315"/>
            <a:ext cx="228600" cy="24765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4935735"/>
            <a:ext cx="228600" cy="24765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1275" y="4935735"/>
            <a:ext cx="228600" cy="24765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90525" y="676423"/>
            <a:ext cx="1160145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 dirty="0">
                <a:solidFill>
                  <a:srgbClr val="1F3A5F"/>
                </a:solidFill>
                <a:latin typeface="Inter"/>
              </a:rPr>
              <a:t>Actionable Recommendations</a:t>
            </a:r>
          </a:p>
        </p:txBody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13"/>
            <a:ext cx="1890345" cy="55256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700337"/>
            <a:ext cx="3775323" cy="244792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2573" y="2700337"/>
            <a:ext cx="3128664" cy="24479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987" y="2700337"/>
            <a:ext cx="3573660" cy="24479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5" y="3033712"/>
            <a:ext cx="571500" cy="571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6775" y="3795712"/>
            <a:ext cx="1930241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1E293B"/>
                </a:solidFill>
                <a:latin typeface="Inter SemiBold"/>
              </a:rPr>
              <a:t>Predictive Analytics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775" y="4167187"/>
            <a:ext cx="318477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475569"/>
                </a:solidFill>
                <a:latin typeface="Inter"/>
              </a:rPr>
              <a:t>Implement Machine Learning (ML) algorithms for accident prediction and AI-powered risk detection based on historical patterns.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7848" y="3033712"/>
            <a:ext cx="571500" cy="571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27848" y="3795712"/>
            <a:ext cx="206025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1E293B"/>
                </a:solidFill>
                <a:latin typeface="Inter SemiBold"/>
              </a:rPr>
              <a:t>Real-Time 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27848" y="4167187"/>
            <a:ext cx="253811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475569"/>
                </a:solidFill>
                <a:latin typeface="Inter"/>
              </a:rPr>
              <a:t>Integrate live Traffic and Weather APIs to transition the platform into a real-time monitoring dashboard.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2262" y="3033712"/>
            <a:ext cx="571500" cy="571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42262" y="3795712"/>
            <a:ext cx="22002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1E293B"/>
                </a:solidFill>
                <a:latin typeface="Inter SemiBold"/>
              </a:rPr>
              <a:t>Enterprise Deployment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2262" y="4167187"/>
            <a:ext cx="298311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475569"/>
                </a:solidFill>
                <a:latin typeface="Inter"/>
              </a:rPr>
              <a:t>Deploy to Power BI Service utilizing Row-Level Security (RLS) and optimize layout for the Mobile Dashboard experience.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2025" y="3167062"/>
            <a:ext cx="381000" cy="3048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42148" y="3167062"/>
            <a:ext cx="342900" cy="3048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5612" y="3167062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1500" y="1151792"/>
            <a:ext cx="1160145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 dirty="0">
                <a:solidFill>
                  <a:srgbClr val="1F3A5F"/>
                </a:solidFill>
                <a:latin typeface="Inter"/>
              </a:rPr>
              <a:t>Future Enhancements</a:t>
            </a: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10913"/>
            <a:ext cx="1890345" cy="55256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6376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95275" y="1864965"/>
            <a:ext cx="11601450" cy="828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 i="0" u="none">
                <a:solidFill>
                  <a:srgbClr val="FFFFFF"/>
                </a:solidFill>
                <a:latin typeface="Inter"/>
              </a:rP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2788890"/>
            <a:ext cx="11049000" cy="396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20"/>
              </a:lnSpc>
            </a:pPr>
            <a:r>
              <a:rPr sz="1950" b="0" i="0" u="none">
                <a:solidFill>
                  <a:srgbClr val="F4A300"/>
                </a:solidFill>
                <a:latin typeface="Inter Medium"/>
              </a:rPr>
              <a:t>Questions &amp; 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0" y="3756570"/>
            <a:ext cx="762000" cy="28575"/>
          </a:xfrm>
          <a:prstGeom prst="rect">
            <a:avLst/>
          </a:prstGeom>
          <a:solidFill>
            <a:srgbClr val="F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6376"/>
            <a:ext cx="1890345" cy="5525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842</Words>
  <Application>Microsoft Office PowerPoint</Application>
  <PresentationFormat>Widescreen</PresentationFormat>
  <Paragraphs>107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Aparajita</vt:lpstr>
      <vt:lpstr>Arial</vt:lpstr>
      <vt:lpstr>Calibri</vt:lpstr>
      <vt:lpstr>Consolas SemiBold</vt:lpstr>
      <vt:lpstr>Inter</vt:lpstr>
      <vt:lpstr>Inter Medium</vt:lpstr>
      <vt:lpstr>Inter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Prince Kumar</dc:creator>
  <cp:keywords/>
  <dc:description>generated using python-pptx</dc:description>
  <cp:lastModifiedBy>Prince Kumar</cp:lastModifiedBy>
  <cp:revision>9</cp:revision>
  <dcterms:created xsi:type="dcterms:W3CDTF">2013-01-27T09:14:16Z</dcterms:created>
  <dcterms:modified xsi:type="dcterms:W3CDTF">2026-08-04T07:04:09Z</dcterms:modified>
  <cp:category/>
</cp:coreProperties>
</file>